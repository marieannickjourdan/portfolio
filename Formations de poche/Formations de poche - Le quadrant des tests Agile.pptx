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Geo"/>
      <p:regular r:id="rId17"/>
      <p: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e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Ge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b2579a61af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b2579a61af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b2579a61af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04c117a84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04c117a84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104c117a84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b7d256e7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b7d256e7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10b7d256e7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b7d256e71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0b7d256e71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10b7d256e71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b7d256e71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b7d256e71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273" lvl="0" marL="28575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658F"/>
              </a:buClr>
              <a:buSzPts val="1100"/>
              <a:buFont typeface="Noto Sans Symbols"/>
              <a:buChar char="✔"/>
            </a:pPr>
            <a:r>
              <a:rPr lang="fr">
                <a:solidFill>
                  <a:srgbClr val="433C66"/>
                </a:solidFill>
              </a:rPr>
              <a:t>Il </a:t>
            </a:r>
            <a:r>
              <a:rPr lang="fr">
                <a:solidFill>
                  <a:srgbClr val="433C66"/>
                </a:solidFill>
              </a:rPr>
              <a:t>est simplement plus facile de dire « Q2 » que « Tests orientés business qui guident le développement ».</a:t>
            </a:r>
            <a:endParaRPr>
              <a:solidFill>
                <a:srgbClr val="433C66"/>
              </a:solidFill>
            </a:endParaRPr>
          </a:p>
          <a:p>
            <a:pPr indent="-291973" lvl="0" marL="28575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3C66"/>
              </a:buClr>
              <a:buSzPts val="1300"/>
              <a:buFont typeface="Noto Sans Symbols"/>
              <a:buChar char="✔"/>
            </a:pPr>
            <a:r>
              <a:rPr lang="fr">
                <a:solidFill>
                  <a:srgbClr val="433C66"/>
                </a:solidFill>
              </a:rPr>
              <a:t>Si la performance est l’attribut le plus important, il faut commencer par Q4. La spécification des tests Q2 peut aussi démarrer en premier: Q2 fournit des exemples qui seront transformés en tests guidant le codage.</a:t>
            </a:r>
            <a:endParaRPr>
              <a:solidFill>
                <a:srgbClr val="433C66"/>
              </a:solidFill>
            </a:endParaRPr>
          </a:p>
          <a:p>
            <a:pPr indent="-291973" lvl="0" marL="28575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3C66"/>
              </a:buClr>
              <a:buSzPts val="1300"/>
              <a:buFont typeface="Noto Sans Symbols"/>
              <a:buChar char="✔"/>
            </a:pPr>
            <a:r>
              <a:rPr lang="fr">
                <a:solidFill>
                  <a:srgbClr val="433C66"/>
                </a:solidFill>
              </a:rPr>
              <a:t>Terme “Soutient la programmation” remplacé par “Guide le développement” =&gt; approche plus “test-first”</a:t>
            </a:r>
            <a:endParaRPr>
              <a:solidFill>
                <a:srgbClr val="433C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10b7d256e71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0b7d256e71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0b7d256e71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10b7d256e71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0b78f7feb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0b78f7feb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=&gt;  A gauche vérif des attendus, à droite analyse de l’inconnu, non défini, inattendu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=&gt; Il met les tests de perf dans un autre quadrant que le test de charge</a:t>
            </a:r>
            <a:endParaRPr/>
          </a:p>
        </p:txBody>
      </p:sp>
      <p:sp>
        <p:nvSpPr>
          <p:cNvPr id="178" name="Google Shape;178;g10b78f7feb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0b78f7febd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0b78f7febd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10b78f7febd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15251f7c0b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15251f7c0b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115251f7c0b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b78f7febd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0b78f7febd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10b78f7febd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15251f7c0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15251f7c0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Diapositive de titre avec image">
  <p:cSld name="Primobox / Diapositive de titre avec imag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514725" y="3046228"/>
            <a:ext cx="54252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"/>
              <a:buNone/>
              <a:defRPr b="1" sz="3600" cap="none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514725" y="4327396"/>
            <a:ext cx="542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 cap="none">
                <a:solidFill>
                  <a:schemeClr val="dk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" name="Google Shape;17;p2"/>
          <p:cNvSpPr/>
          <p:nvPr>
            <p:ph idx="2" type="pic"/>
          </p:nvPr>
        </p:nvSpPr>
        <p:spPr>
          <a:xfrm>
            <a:off x="0" y="1"/>
            <a:ext cx="3318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Demi-image horizontale">
  <p:cSld name="Primobox / Demi-image horizonta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623888" y="2845997"/>
            <a:ext cx="78867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eo"/>
              <a:buNone/>
              <a:defRPr b="1" sz="27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23888" y="3629768"/>
            <a:ext cx="78867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 cap="none"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" name="Google Shape;22;p3"/>
          <p:cNvSpPr/>
          <p:nvPr>
            <p:ph idx="2" type="pic"/>
          </p:nvPr>
        </p:nvSpPr>
        <p:spPr>
          <a:xfrm>
            <a:off x="0" y="0"/>
            <a:ext cx="9144000" cy="2784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Demi-image verticale mauve">
  <p:cSld name="Primobox / Demi-image verticale mauv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>
            <p:ph idx="2" type="pic"/>
          </p:nvPr>
        </p:nvSpPr>
        <p:spPr>
          <a:xfrm>
            <a:off x="3987366" y="0"/>
            <a:ext cx="51564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>
            <a:off x="0" y="0"/>
            <a:ext cx="398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23888" y="1292469"/>
            <a:ext cx="3980400" cy="28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288488" y="1088116"/>
            <a:ext cx="33516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5940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Geo"/>
              <a:buNone/>
              <a:defRPr b="1" sz="2700" cap="none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288488" y="2389160"/>
            <a:ext cx="3351600" cy="1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 cap="none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Titre, contenu et grande photo">
  <p:cSld name="Primobox / Titre, contenu et grande photo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431323" y="784622"/>
            <a:ext cx="40839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"/>
              <a:buNone/>
              <a:defRPr b="1" sz="24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431323" y="1879996"/>
            <a:ext cx="40839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/>
            </a:lvl1pPr>
            <a:lvl2pPr indent="-3048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/>
            </a:lvl2pPr>
            <a:lvl3pPr indent="-29845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/>
            </a:lvl3pPr>
            <a:lvl4pPr indent="-28575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•"/>
              <a:defRPr sz="900"/>
            </a:lvl4pPr>
            <a:lvl5pPr indent="-285750" lvl="4" marL="2286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•"/>
              <a:defRPr sz="9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4" name="Google Shape;34;p5"/>
          <p:cNvSpPr/>
          <p:nvPr>
            <p:ph idx="2" type="pic"/>
          </p:nvPr>
        </p:nvSpPr>
        <p:spPr>
          <a:xfrm>
            <a:off x="351784" y="0"/>
            <a:ext cx="3907500" cy="4470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Titre, contenu et trois photos">
  <p:cSld name="Primobox / Titre, contenu et trois photo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272562" y="784622"/>
            <a:ext cx="40839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"/>
              <a:buNone/>
              <a:defRPr b="1" sz="24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272562" y="1879996"/>
            <a:ext cx="40839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29845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8575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4pPr>
            <a:lvl5pPr indent="-285750" lvl="4" marL="2286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" name="Google Shape;39;p6"/>
          <p:cNvSpPr/>
          <p:nvPr>
            <p:ph idx="2" type="pic"/>
          </p:nvPr>
        </p:nvSpPr>
        <p:spPr>
          <a:xfrm>
            <a:off x="4439816" y="1"/>
            <a:ext cx="2572800" cy="306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/>
          <p:nvPr>
            <p:ph idx="3" type="pic"/>
          </p:nvPr>
        </p:nvSpPr>
        <p:spPr>
          <a:xfrm>
            <a:off x="7156639" y="121314"/>
            <a:ext cx="1987500" cy="322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6"/>
          <p:cNvSpPr/>
          <p:nvPr>
            <p:ph idx="4" type="pic"/>
          </p:nvPr>
        </p:nvSpPr>
        <p:spPr>
          <a:xfrm>
            <a:off x="4439815" y="3216833"/>
            <a:ext cx="2572800" cy="1254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Titre et contenu 02">
  <p:cSld name="Primobox / Titre et contenu 0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272562" y="184640"/>
            <a:ext cx="2404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"/>
              <a:buNone/>
              <a:defRPr b="1" sz="24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060739" y="1819706"/>
            <a:ext cx="2256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accent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060739" y="2323276"/>
            <a:ext cx="2256300" cy="23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indent="-2984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47" name="Google Shape;47;p7"/>
          <p:cNvCxnSpPr/>
          <p:nvPr/>
        </p:nvCxnSpPr>
        <p:spPr>
          <a:xfrm rot="10800000">
            <a:off x="2729617" y="315648"/>
            <a:ext cx="0" cy="43266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5902937" y="1819706"/>
            <a:ext cx="2256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accent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5902937" y="2323276"/>
            <a:ext cx="2256300" cy="23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indent="-2984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857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794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7"/>
          <p:cNvSpPr/>
          <p:nvPr>
            <p:ph idx="5" type="pic"/>
          </p:nvPr>
        </p:nvSpPr>
        <p:spPr>
          <a:xfrm>
            <a:off x="3060739" y="1257222"/>
            <a:ext cx="44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7"/>
          <p:cNvSpPr/>
          <p:nvPr>
            <p:ph idx="6" type="pic"/>
          </p:nvPr>
        </p:nvSpPr>
        <p:spPr>
          <a:xfrm>
            <a:off x="5901006" y="1257222"/>
            <a:ext cx="441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7" type="body"/>
          </p:nvPr>
        </p:nvSpPr>
        <p:spPr>
          <a:xfrm>
            <a:off x="3060739" y="360118"/>
            <a:ext cx="52086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sz="1500">
                <a:solidFill>
                  <a:srgbClr val="ADAEB3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Titre uniquement">
  <p:cSld name="Primobox / Titre uniquem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272562" y="184640"/>
            <a:ext cx="85989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"/>
              <a:buNone/>
              <a:defRPr b="1" sz="24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Merci">
  <p:cSld name="Primobox / Merci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3626102" y="2901328"/>
            <a:ext cx="491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eo"/>
              <a:buNone/>
              <a:defRPr b="1" sz="3600" cap="none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/>
          <p:nvPr>
            <p:ph idx="2" type="pic"/>
          </p:nvPr>
        </p:nvSpPr>
        <p:spPr>
          <a:xfrm>
            <a:off x="0" y="1"/>
            <a:ext cx="3318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Enveloppe"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26102" y="3619862"/>
            <a:ext cx="351924" cy="3519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 txBox="1"/>
          <p:nvPr>
            <p:ph idx="1" type="subTitle"/>
          </p:nvPr>
        </p:nvSpPr>
        <p:spPr>
          <a:xfrm>
            <a:off x="4055107" y="3692815"/>
            <a:ext cx="2730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 cap="none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4056461" y="4225248"/>
            <a:ext cx="27291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 cap="none"/>
            </a:lvl1pPr>
            <a:lvl2pPr indent="-3238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5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Lien" id="63" name="Google Shape;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0364" y="4205339"/>
            <a:ext cx="406561" cy="406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Diapositive de titre">
  <p:cSld name="Primobox / Diapositive de titr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ctrTitle"/>
          </p:nvPr>
        </p:nvSpPr>
        <p:spPr>
          <a:xfrm>
            <a:off x="3514724" y="1766744"/>
            <a:ext cx="54252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eo"/>
              <a:buNone/>
              <a:defRPr b="1" sz="3600" cap="none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3514725" y="2677035"/>
            <a:ext cx="542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 cap="none">
                <a:solidFill>
                  <a:schemeClr val="dk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/>
          <p:nvPr/>
        </p:nvSpPr>
        <p:spPr>
          <a:xfrm>
            <a:off x="0" y="0"/>
            <a:ext cx="3318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En-tête de section">
  <p:cSld name="Primobox / En-tête de sec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351783" y="1"/>
            <a:ext cx="3907500" cy="447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686600" y="957643"/>
            <a:ext cx="3073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Geo"/>
              <a:buNone/>
              <a:defRPr b="1" sz="2700" cap="none">
                <a:solidFill>
                  <a:schemeClr val="lt1"/>
                </a:solidFill>
                <a:latin typeface="Geo"/>
                <a:ea typeface="Geo"/>
                <a:cs typeface="Geo"/>
                <a:sym typeface="Ge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686600" y="2131648"/>
            <a:ext cx="3073200" cy="14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b="0" cap="none"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Titre et contenu">
  <p:cSld name="Primobox / Titre et contenu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272562" y="1369219"/>
            <a:ext cx="8598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title"/>
          </p:nvPr>
        </p:nvSpPr>
        <p:spPr>
          <a:xfrm>
            <a:off x="272562" y="273844"/>
            <a:ext cx="85989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Deux contenus">
  <p:cSld name="Primobox / Deux contenu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272562" y="184640"/>
            <a:ext cx="85989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"/>
              <a:buNone/>
              <a:defRPr b="1" sz="24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4760536" y="1369219"/>
            <a:ext cx="41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272562" y="1369219"/>
            <a:ext cx="41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Comparaison">
  <p:cSld name="Primobox / Comparais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272562" y="184640"/>
            <a:ext cx="85989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"/>
              <a:buNone/>
              <a:defRPr b="1" sz="24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4760535" y="1260872"/>
            <a:ext cx="41109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4"/>
          <p:cNvSpPr txBox="1"/>
          <p:nvPr>
            <p:ph idx="2" type="body"/>
          </p:nvPr>
        </p:nvSpPr>
        <p:spPr>
          <a:xfrm>
            <a:off x="4760534" y="1939661"/>
            <a:ext cx="41109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3" type="body"/>
          </p:nvPr>
        </p:nvSpPr>
        <p:spPr>
          <a:xfrm>
            <a:off x="272562" y="1260872"/>
            <a:ext cx="41109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4"/>
          <p:cNvSpPr txBox="1"/>
          <p:nvPr>
            <p:ph idx="4" type="body"/>
          </p:nvPr>
        </p:nvSpPr>
        <p:spPr>
          <a:xfrm>
            <a:off x="272562" y="1939661"/>
            <a:ext cx="41109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Image avec légende">
  <p:cSld name="Primobox / Image avec légend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623888" y="2845997"/>
            <a:ext cx="78867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Geo"/>
              <a:buNone/>
              <a:defRPr b="1" sz="27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629841" y="3629759"/>
            <a:ext cx="78807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cap="none"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15"/>
          <p:cNvSpPr/>
          <p:nvPr>
            <p:ph idx="2" type="pic"/>
          </p:nvPr>
        </p:nvSpPr>
        <p:spPr>
          <a:xfrm>
            <a:off x="0" y="1"/>
            <a:ext cx="9144000" cy="2784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Contenu avec légende">
  <p:cSld name="Primobox / Contenu avec légend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272562" y="184640"/>
            <a:ext cx="2404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"/>
              <a:buNone/>
              <a:defRPr b="1" sz="24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272562" y="1543050"/>
            <a:ext cx="24048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9" name="Google Shape;99;p16"/>
          <p:cNvSpPr txBox="1"/>
          <p:nvPr>
            <p:ph idx="2" type="body"/>
          </p:nvPr>
        </p:nvSpPr>
        <p:spPr>
          <a:xfrm>
            <a:off x="2916063" y="184640"/>
            <a:ext cx="5600400" cy="4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obox / Vide">
  <p:cSld name="Primobox / Vid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6814038" y="4847405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4" name="Google Shape;10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artie - 2">
  <p:cSld name="TITLE_AND_BODY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0" r="0" t="24998"/>
          <a:stretch/>
        </p:blipFill>
        <p:spPr>
          <a:xfrm>
            <a:off x="4572000" y="2"/>
            <a:ext cx="4572000" cy="514350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75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 amt="87000"/>
          </a:blip>
          <a:stretch>
            <a:fillRect/>
          </a:stretch>
        </p:blipFill>
        <p:spPr>
          <a:xfrm>
            <a:off x="4053888" y="1180900"/>
            <a:ext cx="582351" cy="792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496728" y="768690"/>
            <a:ext cx="548699" cy="746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 amt="94000"/>
          </a:blip>
          <a:stretch>
            <a:fillRect/>
          </a:stretch>
        </p:blipFill>
        <p:spPr>
          <a:xfrm>
            <a:off x="3878177" y="-46247"/>
            <a:ext cx="865775" cy="117749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>
            <p:ph type="title"/>
          </p:nvPr>
        </p:nvSpPr>
        <p:spPr>
          <a:xfrm>
            <a:off x="357000" y="886763"/>
            <a:ext cx="3858000" cy="13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375025" y="2657025"/>
            <a:ext cx="3678900" cy="1803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7.xml"/><Relationship Id="rId22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6.xml"/><Relationship Id="rId21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23" Type="http://schemas.openxmlformats.org/officeDocument/2006/relationships/theme" Target="../theme/theme1.xml"/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19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.xml"/><Relationship Id="rId1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43447" l="72412" r="0" t="18209"/>
          <a:stretch/>
        </p:blipFill>
        <p:spPr>
          <a:xfrm rot="10800000">
            <a:off x="6434190" y="1352"/>
            <a:ext cx="2709810" cy="514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21593" l="54256" r="-4" t="0"/>
          <a:stretch/>
        </p:blipFill>
        <p:spPr>
          <a:xfrm>
            <a:off x="0" y="761"/>
            <a:ext cx="2197766" cy="514197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272562" y="273844"/>
            <a:ext cx="85989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"/>
              <a:buNone/>
              <a:defRPr b="1" i="0" sz="2400" u="none" cap="none" strike="noStrike">
                <a:solidFill>
                  <a:schemeClr val="accent1"/>
                </a:solidFill>
                <a:latin typeface="Geo"/>
                <a:ea typeface="Geo"/>
                <a:cs typeface="Geo"/>
                <a:sym typeface="Ge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272562" y="1369219"/>
            <a:ext cx="8598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/>
          <p:nvPr/>
        </p:nvSpPr>
        <p:spPr>
          <a:xfrm>
            <a:off x="0" y="4632722"/>
            <a:ext cx="9144000" cy="51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814038" y="4800433"/>
            <a:ext cx="2057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562" y="4797449"/>
            <a:ext cx="1186932" cy="198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844" y="4688129"/>
            <a:ext cx="142782" cy="41740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35487" r="21512" t="0"/>
          <a:stretch/>
        </p:blipFill>
        <p:spPr>
          <a:xfrm>
            <a:off x="11" y="0"/>
            <a:ext cx="33182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>
            <p:ph type="ctrTitle"/>
          </p:nvPr>
        </p:nvSpPr>
        <p:spPr>
          <a:xfrm>
            <a:off x="3405550" y="2431098"/>
            <a:ext cx="55344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"/>
              <a:buNone/>
            </a:pPr>
            <a:r>
              <a:rPr lang="fr" sz="35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FORMATIONS DE POCHE</a:t>
            </a:r>
            <a:r>
              <a:rPr lang="fr" sz="3500">
                <a:latin typeface="Arial"/>
                <a:ea typeface="Arial"/>
                <a:cs typeface="Arial"/>
                <a:sym typeface="Arial"/>
              </a:rPr>
              <a:t> </a:t>
            </a: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"/>
              <a:buNone/>
            </a:pPr>
            <a:r>
              <a:rPr lang="fr" sz="3500">
                <a:latin typeface="Arial"/>
                <a:ea typeface="Arial"/>
                <a:cs typeface="Arial"/>
                <a:sym typeface="Arial"/>
              </a:rPr>
              <a:t>Le quadrant des tests Agile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4725" y="1740698"/>
            <a:ext cx="2112590" cy="3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/>
        </p:nvSpPr>
        <p:spPr>
          <a:xfrm>
            <a:off x="967200" y="998113"/>
            <a:ext cx="67959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33C66"/>
                </a:solidFill>
              </a:rPr>
              <a:t>Les quadrants sont inspirés d’une matrice développée par Brian Marick  (Marick Test Matrix) en 2003 qui décrivait les types de tests utilisés dans les projets Extreme Programming :</a:t>
            </a:r>
            <a:endParaRPr sz="1200"/>
          </a:p>
        </p:txBody>
      </p:sp>
      <p:sp>
        <p:nvSpPr>
          <p:cNvPr id="128" name="Google Shape;128;p21"/>
          <p:cNvSpPr txBox="1"/>
          <p:nvPr/>
        </p:nvSpPr>
        <p:spPr>
          <a:xfrm>
            <a:off x="385762" y="62490"/>
            <a:ext cx="8598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rPr b="1" lang="fr" sz="2400">
                <a:solidFill>
                  <a:srgbClr val="0075B0"/>
                </a:solidFill>
              </a:rPr>
              <a:t>Un peu d’histoire (1)</a:t>
            </a:r>
            <a:endParaRPr i="0" sz="1100" u="none" cap="none" strike="noStrike">
              <a:solidFill>
                <a:srgbClr val="000000"/>
              </a:solidFill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750" y="1760324"/>
            <a:ext cx="4864401" cy="28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3103" y="0"/>
            <a:ext cx="1380897" cy="106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/>
        </p:nvSpPr>
        <p:spPr>
          <a:xfrm>
            <a:off x="684450" y="892625"/>
            <a:ext cx="77751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33C66"/>
                </a:solidFill>
              </a:rPr>
              <a:t>Les quadrants ont ensuite été repris et développés par Lisa Crispin &amp; Janet Gregory dans l'ouvrage Agile Testing : les quadrants offraient une </a:t>
            </a:r>
            <a:r>
              <a:rPr b="1" lang="fr" sz="1300">
                <a:solidFill>
                  <a:srgbClr val="433C66"/>
                </a:solidFill>
              </a:rPr>
              <a:t>taxonomie </a:t>
            </a:r>
            <a:r>
              <a:rPr lang="fr" sz="1300">
                <a:solidFill>
                  <a:srgbClr val="433C66"/>
                </a:solidFill>
              </a:rPr>
              <a:t>des différents types de test, un </a:t>
            </a:r>
            <a:r>
              <a:rPr b="1" lang="fr" sz="1300">
                <a:solidFill>
                  <a:srgbClr val="433C66"/>
                </a:solidFill>
              </a:rPr>
              <a:t>support de discussion </a:t>
            </a:r>
            <a:r>
              <a:rPr lang="fr" sz="1300">
                <a:solidFill>
                  <a:srgbClr val="433C66"/>
                </a:solidFill>
              </a:rPr>
              <a:t>pour tous les envisager, et une </a:t>
            </a:r>
            <a:r>
              <a:rPr b="1" lang="fr" sz="1300">
                <a:solidFill>
                  <a:srgbClr val="433C66"/>
                </a:solidFill>
              </a:rPr>
              <a:t>vue d’ensemble</a:t>
            </a:r>
            <a:r>
              <a:rPr lang="fr" sz="1300">
                <a:solidFill>
                  <a:srgbClr val="433C66"/>
                </a:solidFill>
              </a:rPr>
              <a:t>.</a:t>
            </a:r>
            <a:endParaRPr sz="1300">
              <a:solidFill>
                <a:srgbClr val="433C66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3C66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385762" y="62490"/>
            <a:ext cx="8598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rPr b="1" lang="fr" sz="2400">
                <a:solidFill>
                  <a:srgbClr val="0075B0"/>
                </a:solidFill>
              </a:rPr>
              <a:t>Un peu d’histoire (2)</a:t>
            </a:r>
            <a:endParaRPr i="0" sz="1100" u="none" cap="none" strike="noStrike">
              <a:solidFill>
                <a:srgbClr val="000000"/>
              </a:solidFill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654" y="2110030"/>
            <a:ext cx="1797649" cy="236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7525" y="1701200"/>
            <a:ext cx="4356600" cy="33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3325" y="1797400"/>
            <a:ext cx="856325" cy="83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/>
        </p:nvSpPr>
        <p:spPr>
          <a:xfrm>
            <a:off x="797650" y="1003125"/>
            <a:ext cx="777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3C66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385762" y="62490"/>
            <a:ext cx="8598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rPr b="1" lang="fr" sz="2400">
                <a:solidFill>
                  <a:srgbClr val="0075B0"/>
                </a:solidFill>
              </a:rPr>
              <a:t>Les quadrants sont des lignes directrices</a:t>
            </a:r>
            <a:endParaRPr i="0" sz="1100" u="none" cap="none" strike="noStrike">
              <a:solidFill>
                <a:srgbClr val="000000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685150" y="1187025"/>
            <a:ext cx="7622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★"/>
            </a:pPr>
            <a:r>
              <a:rPr lang="fr" sz="1300">
                <a:solidFill>
                  <a:srgbClr val="433C66"/>
                </a:solidFill>
              </a:rPr>
              <a:t>Aider à identifier ce qui est nécessaire pour donner confiance dans le produit développé</a:t>
            </a:r>
            <a:endParaRPr sz="1300">
              <a:solidFill>
                <a:srgbClr val="433C66"/>
              </a:solidFill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861625" y="2887325"/>
            <a:ext cx="69954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658F"/>
              </a:buClr>
              <a:buSzPts val="1300"/>
              <a:buFont typeface="Noto Sans Symbols"/>
              <a:buNone/>
            </a:pPr>
            <a:r>
              <a:rPr b="1" lang="fr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Tout contexte d’équipe est unique : il peut y avoi</a:t>
            </a:r>
            <a:r>
              <a:rPr b="1" lang="fr" sz="1300">
                <a:solidFill>
                  <a:schemeClr val="accent1"/>
                </a:solidFill>
              </a:rPr>
              <a:t>r </a:t>
            </a:r>
            <a:r>
              <a:rPr b="1" lang="fr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des zones grises et c’est normal. </a:t>
            </a:r>
            <a:endParaRPr b="1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6C658F"/>
              </a:buClr>
              <a:buSzPts val="1300"/>
              <a:buFont typeface="Noto Sans Symbols"/>
              <a:buNone/>
            </a:pPr>
            <a:r>
              <a:rPr b="1" lang="fr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Les quadrants sont un outil et non une règle.</a:t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3800" y="3516075"/>
            <a:ext cx="3530200" cy="16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/>
          <p:nvPr/>
        </p:nvSpPr>
        <p:spPr>
          <a:xfrm>
            <a:off x="685150" y="1521550"/>
            <a:ext cx="76227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★"/>
            </a:pPr>
            <a:r>
              <a:rPr lang="fr" sz="1300">
                <a:solidFill>
                  <a:srgbClr val="433C66"/>
                </a:solidFill>
              </a:rPr>
              <a:t>Construire un </a:t>
            </a:r>
            <a:r>
              <a:rPr b="1" lang="fr" sz="1300">
                <a:solidFill>
                  <a:srgbClr val="433C66"/>
                </a:solidFill>
              </a:rPr>
              <a:t>langage commun à l’équipe</a:t>
            </a:r>
            <a:r>
              <a:rPr lang="fr" sz="1300">
                <a:solidFill>
                  <a:srgbClr val="433C66"/>
                </a:solidFill>
              </a:rPr>
              <a:t> et à l’organisation quand cet outil est utilisé pour communiquer au sein de différentes équipes</a:t>
            </a:r>
            <a:endParaRPr sz="1300">
              <a:solidFill>
                <a:srgbClr val="433C66"/>
              </a:solidFill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685150" y="2116663"/>
            <a:ext cx="7622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★"/>
            </a:pPr>
            <a:r>
              <a:rPr lang="fr" sz="1300">
                <a:solidFill>
                  <a:srgbClr val="433C66"/>
                </a:solidFill>
              </a:rPr>
              <a:t>Responsabilise l’équipe entière sur les activités de test (travail commun)</a:t>
            </a:r>
            <a:endParaRPr sz="1300">
              <a:solidFill>
                <a:srgbClr val="433C6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/>
        </p:nvSpPr>
        <p:spPr>
          <a:xfrm>
            <a:off x="797650" y="850725"/>
            <a:ext cx="777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3C66"/>
              </a:solidFill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85762" y="62490"/>
            <a:ext cx="8598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rPr b="1" lang="fr" sz="2400">
                <a:solidFill>
                  <a:srgbClr val="0075B0"/>
                </a:solidFill>
              </a:rPr>
              <a:t>Les quadrants</a:t>
            </a:r>
            <a:endParaRPr i="0" sz="1100" u="none" cap="none" strike="noStrike">
              <a:solidFill>
                <a:srgbClr val="000000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5562600" y="914400"/>
            <a:ext cx="3177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273" lvl="0" marL="28575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658F"/>
              </a:buClr>
              <a:buSzPts val="1100"/>
              <a:buFont typeface="Noto Sans Symbols"/>
              <a:buChar char="✔"/>
            </a:pPr>
            <a:r>
              <a:rPr lang="fr" sz="1100">
                <a:solidFill>
                  <a:srgbClr val="433C66"/>
                </a:solidFill>
              </a:rPr>
              <a:t>Les quadrants sont numérotés Q1@Q4 mais il n’y a pas d’ordre à respecter  </a:t>
            </a:r>
            <a:endParaRPr sz="1100">
              <a:solidFill>
                <a:srgbClr val="433C66"/>
              </a:solidFill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5562600" y="1447800"/>
            <a:ext cx="3177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273" lvl="0" marL="28575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658F"/>
              </a:buClr>
              <a:buSzPts val="1100"/>
              <a:buFont typeface="Noto Sans Symbols"/>
              <a:buChar char="✔"/>
            </a:pPr>
            <a:r>
              <a:rPr lang="fr" sz="1100">
                <a:solidFill>
                  <a:srgbClr val="433C66"/>
                </a:solidFill>
              </a:rPr>
              <a:t>Par « Critiquer », il faut comprendre la critique constructive, « évaluer, analyser ».</a:t>
            </a:r>
            <a:endParaRPr sz="1100">
              <a:solidFill>
                <a:srgbClr val="433C66"/>
              </a:solidFill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5562600" y="1981200"/>
            <a:ext cx="31773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273" lvl="0" marL="28575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658F"/>
              </a:buClr>
              <a:buSzPts val="1100"/>
              <a:buFont typeface="Noto Sans Symbols"/>
              <a:buChar char="✔"/>
            </a:pPr>
            <a:r>
              <a:rPr lang="fr" sz="1100">
                <a:solidFill>
                  <a:srgbClr val="433C66"/>
                </a:solidFill>
              </a:rPr>
              <a:t>Q1  : souvent automatisés, conçus pour être déroulés vite, fournissent un feedback rapide</a:t>
            </a:r>
            <a:endParaRPr sz="1100">
              <a:solidFill>
                <a:srgbClr val="433C66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5562600" y="2590800"/>
            <a:ext cx="3177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273" lvl="0" marL="28575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658F"/>
              </a:buClr>
              <a:buSzPts val="1100"/>
              <a:buFont typeface="Noto Sans Symbols"/>
              <a:buChar char="✔"/>
            </a:pPr>
            <a:r>
              <a:rPr lang="fr" sz="1100">
                <a:solidFill>
                  <a:srgbClr val="433C66"/>
                </a:solidFill>
              </a:rPr>
              <a:t>Q3  : a</a:t>
            </a:r>
            <a:r>
              <a:rPr lang="fr" sz="1100">
                <a:solidFill>
                  <a:srgbClr val="433C66"/>
                </a:solidFill>
              </a:rPr>
              <a:t>pprendre si la fonctionnalité apporte la valeur attendue aux clients</a:t>
            </a:r>
            <a:br>
              <a:rPr lang="fr" sz="1100">
                <a:solidFill>
                  <a:srgbClr val="433C66"/>
                </a:solidFill>
              </a:rPr>
            </a:br>
            <a:r>
              <a:rPr lang="fr" sz="1100">
                <a:solidFill>
                  <a:srgbClr val="433C66"/>
                </a:solidFill>
              </a:rPr>
              <a:t>Tests en production pour comprendre ce qui se passe réellement et comment les clients utilisent le produit</a:t>
            </a:r>
            <a:endParaRPr sz="1100">
              <a:solidFill>
                <a:srgbClr val="433C66"/>
              </a:solidFill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5562600" y="3581400"/>
            <a:ext cx="31773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273" lvl="0" marL="28575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658F"/>
              </a:buClr>
              <a:buSzPts val="1100"/>
              <a:buFont typeface="Noto Sans Symbols"/>
              <a:buChar char="✔"/>
            </a:pPr>
            <a:r>
              <a:rPr lang="fr" sz="1100">
                <a:solidFill>
                  <a:srgbClr val="433C66"/>
                </a:solidFill>
              </a:rPr>
              <a:t>Q4  : </a:t>
            </a:r>
            <a:r>
              <a:rPr lang="fr" sz="1100">
                <a:solidFill>
                  <a:srgbClr val="433C66"/>
                </a:solidFill>
              </a:rPr>
              <a:t>Beaucoup basé sur automatisation et outils</a:t>
            </a:r>
            <a:br>
              <a:rPr lang="fr" sz="1100">
                <a:solidFill>
                  <a:srgbClr val="433C66"/>
                </a:solidFill>
              </a:rPr>
            </a:br>
            <a:r>
              <a:rPr lang="fr" sz="1100">
                <a:solidFill>
                  <a:srgbClr val="433C66"/>
                </a:solidFill>
              </a:rPr>
              <a:t>Egalement tests de résilience</a:t>
            </a:r>
            <a:endParaRPr sz="1100">
              <a:solidFill>
                <a:srgbClr val="433C66"/>
              </a:solidFill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25" y="1062575"/>
            <a:ext cx="5257800" cy="282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/>
        </p:nvSpPr>
        <p:spPr>
          <a:xfrm>
            <a:off x="797650" y="1003125"/>
            <a:ext cx="777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3C66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385762" y="62490"/>
            <a:ext cx="8598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rPr b="1" lang="fr" sz="2400">
                <a:solidFill>
                  <a:srgbClr val="0075B0"/>
                </a:solidFill>
              </a:rPr>
              <a:t>Comment utiliser les quadrants</a:t>
            </a:r>
            <a:endParaRPr i="0" sz="1100" u="none" cap="none" strike="noStrike">
              <a:solidFill>
                <a:srgbClr val="000000"/>
              </a:solidFill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685150" y="1110825"/>
            <a:ext cx="6864900" cy="24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★"/>
            </a:pPr>
            <a:r>
              <a:rPr b="1" lang="fr" sz="1300">
                <a:solidFill>
                  <a:srgbClr val="433C66"/>
                </a:solidFill>
              </a:rPr>
              <a:t>Les utiliser </a:t>
            </a:r>
            <a:br>
              <a:rPr lang="fr" sz="1300">
                <a:solidFill>
                  <a:srgbClr val="433C66"/>
                </a:solidFill>
              </a:rPr>
            </a:br>
            <a:r>
              <a:rPr lang="fr" sz="1300">
                <a:solidFill>
                  <a:srgbClr val="433C66"/>
                </a:solidFill>
              </a:rPr>
              <a:t>Certaines équipes affichent les quadrants vides, et pour chaque nouvelle release ou feature, discutent et indiquent dans les quadrants les tests devant être faits/ ne devant pas être oubliés.</a:t>
            </a:r>
            <a:endParaRPr sz="1300">
              <a:solidFill>
                <a:srgbClr val="433C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33C66"/>
                </a:solidFill>
              </a:rPr>
              <a:t>Les quadrants peuvent aider à déterminer les tests qui devront faire partie des «Story done » ou « Release done ».</a:t>
            </a:r>
            <a:endParaRPr sz="1300">
              <a:solidFill>
                <a:srgbClr val="433C66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★"/>
            </a:pPr>
            <a:r>
              <a:rPr b="1" lang="fr" sz="1300">
                <a:solidFill>
                  <a:srgbClr val="433C66"/>
                </a:solidFill>
              </a:rPr>
              <a:t>Les challenger</a:t>
            </a:r>
            <a:br>
              <a:rPr lang="fr" sz="1300">
                <a:solidFill>
                  <a:srgbClr val="433C66"/>
                </a:solidFill>
              </a:rPr>
            </a:br>
            <a:r>
              <a:rPr lang="fr" sz="1300">
                <a:solidFill>
                  <a:srgbClr val="433C66"/>
                </a:solidFill>
              </a:rPr>
              <a:t>L’équipe peut adapter les quadrants pour mieux répondre à ses besoins</a:t>
            </a:r>
            <a:endParaRPr sz="1300">
              <a:solidFill>
                <a:srgbClr val="433C66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★"/>
            </a:pPr>
            <a:r>
              <a:rPr b="1" lang="fr" sz="1300">
                <a:solidFill>
                  <a:srgbClr val="433C66"/>
                </a:solidFill>
              </a:rPr>
              <a:t>Toutes les alternatives sont bonnes!</a:t>
            </a:r>
            <a:endParaRPr b="1" sz="1300">
              <a:solidFill>
                <a:srgbClr val="433C66"/>
              </a:solidFill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044" y="3283044"/>
            <a:ext cx="3694950" cy="186045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/>
        </p:nvSpPr>
        <p:spPr>
          <a:xfrm>
            <a:off x="797650" y="1003125"/>
            <a:ext cx="777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3C66"/>
              </a:solidFill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385762" y="62490"/>
            <a:ext cx="8598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rPr b="1" lang="fr" sz="2400">
                <a:solidFill>
                  <a:srgbClr val="0075B0"/>
                </a:solidFill>
              </a:rPr>
              <a:t>Exemple 1 : par l’auteur de Specification by example</a:t>
            </a:r>
            <a:endParaRPr b="1" sz="2400">
              <a:solidFill>
                <a:srgbClr val="0075B0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t/>
            </a:r>
            <a:endParaRPr b="1" sz="2400">
              <a:solidFill>
                <a:srgbClr val="0075B0"/>
              </a:solidFill>
            </a:endParaRPr>
          </a:p>
        </p:txBody>
      </p:sp>
      <p:pic>
        <p:nvPicPr>
          <p:cNvPr id="182" name="Google Shape;1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1075" y="684750"/>
            <a:ext cx="1694994" cy="21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3925" y="2999775"/>
            <a:ext cx="2449274" cy="158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750" y="846413"/>
            <a:ext cx="5080160" cy="34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/>
        </p:nvSpPr>
        <p:spPr>
          <a:xfrm>
            <a:off x="797650" y="1003125"/>
            <a:ext cx="777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3C66"/>
              </a:solidFill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385762" y="62490"/>
            <a:ext cx="8598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rPr b="1" lang="fr" sz="2400">
                <a:solidFill>
                  <a:srgbClr val="0075B0"/>
                </a:solidFill>
              </a:rPr>
              <a:t>Exemple 2 : par l’auteur de Explore it!</a:t>
            </a:r>
            <a:endParaRPr b="1" sz="2400">
              <a:solidFill>
                <a:srgbClr val="0075B0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t/>
            </a:r>
            <a:endParaRPr b="1" sz="2400">
              <a:solidFill>
                <a:srgbClr val="0075B0"/>
              </a:solidFill>
            </a:endParaRPr>
          </a:p>
        </p:txBody>
      </p:sp>
      <p:pic>
        <p:nvPicPr>
          <p:cNvPr id="192" name="Google Shape;1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0" y="890923"/>
            <a:ext cx="5567225" cy="375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8250" y="1185187"/>
            <a:ext cx="2312800" cy="277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/>
        </p:nvSpPr>
        <p:spPr>
          <a:xfrm>
            <a:off x="797650" y="1003125"/>
            <a:ext cx="777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3C66"/>
              </a:solidFill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385762" y="243190"/>
            <a:ext cx="8598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rPr b="1" lang="fr" sz="2400">
                <a:solidFill>
                  <a:srgbClr val="0075B0"/>
                </a:solidFill>
              </a:rPr>
              <a:t>Exemple 4:  objectifs des tests dans le quadrant</a:t>
            </a:r>
            <a:endParaRPr b="1" sz="2400">
              <a:solidFill>
                <a:srgbClr val="0075B0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B0"/>
              </a:buClr>
              <a:buSzPts val="2400"/>
              <a:buFont typeface="Geo"/>
              <a:buNone/>
            </a:pPr>
            <a:r>
              <a:t/>
            </a:r>
            <a:endParaRPr b="1" sz="2400">
              <a:solidFill>
                <a:srgbClr val="0075B0"/>
              </a:solidFill>
            </a:endParaRPr>
          </a:p>
        </p:txBody>
      </p:sp>
      <p:pic>
        <p:nvPicPr>
          <p:cNvPr id="201" name="Google Shape;2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350" y="1152525"/>
            <a:ext cx="48768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/>
          <p:nvPr/>
        </p:nvSpPr>
        <p:spPr>
          <a:xfrm>
            <a:off x="4482200" y="661325"/>
            <a:ext cx="3172800" cy="175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Tests d’acceptation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Tests exploratoires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/>
              <a:t>Tests d’utilisabilité?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/>
          <p:nvPr/>
        </p:nvSpPr>
        <p:spPr>
          <a:xfrm>
            <a:off x="4482200" y="2469575"/>
            <a:ext cx="3172800" cy="175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Tests de sécurité (ZAP)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Audit de sécurité annuel</a:t>
            </a:r>
            <a:endParaRPr i="1"/>
          </a:p>
        </p:txBody>
      </p:sp>
      <p:sp>
        <p:nvSpPr>
          <p:cNvPr id="209" name="Google Shape;209;p29"/>
          <p:cNvSpPr/>
          <p:nvPr/>
        </p:nvSpPr>
        <p:spPr>
          <a:xfrm>
            <a:off x="1233200" y="661325"/>
            <a:ext cx="3172800" cy="175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accent3"/>
                </a:solidFill>
              </a:rPr>
              <a:t>Tests NR automatisés</a:t>
            </a:r>
            <a:endParaRPr b="1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Tests fonctionnels</a:t>
            </a:r>
            <a:endParaRPr b="1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1233200" y="2490125"/>
            <a:ext cx="3172800" cy="175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Unit tests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/>
              <a:t>TDD?</a:t>
            </a:r>
            <a:endParaRPr i="1"/>
          </a:p>
        </p:txBody>
      </p:sp>
      <p:sp>
        <p:nvSpPr>
          <p:cNvPr id="211" name="Google Shape;211;p29"/>
          <p:cNvSpPr txBox="1"/>
          <p:nvPr/>
        </p:nvSpPr>
        <p:spPr>
          <a:xfrm>
            <a:off x="3686825" y="252750"/>
            <a:ext cx="16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accent1"/>
                </a:solidFill>
              </a:rPr>
              <a:t>Business Facing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3686825" y="4215150"/>
            <a:ext cx="194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accent1"/>
                </a:solidFill>
              </a:rPr>
              <a:t>Technology Facing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13" name="Google Shape;213;p29"/>
          <p:cNvSpPr txBox="1"/>
          <p:nvPr/>
        </p:nvSpPr>
        <p:spPr>
          <a:xfrm flipH="1" rot="-5400000">
            <a:off x="-218575" y="2208050"/>
            <a:ext cx="194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accent1"/>
                </a:solidFill>
              </a:rPr>
              <a:t>Guide Development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14" name="Google Shape;214;p29"/>
          <p:cNvSpPr txBox="1"/>
          <p:nvPr/>
        </p:nvSpPr>
        <p:spPr>
          <a:xfrm flipH="1" rot="5400000">
            <a:off x="7111725" y="2208050"/>
            <a:ext cx="194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accent1"/>
                </a:solidFill>
              </a:rPr>
              <a:t>Critique the Product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6596014" y="3244825"/>
            <a:ext cx="1004508" cy="88992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Outils</a:t>
            </a:r>
            <a:endParaRPr sz="1100"/>
          </a:p>
        </p:txBody>
      </p:sp>
      <p:sp>
        <p:nvSpPr>
          <p:cNvPr id="216" name="Google Shape;216;p29"/>
          <p:cNvSpPr/>
          <p:nvPr/>
        </p:nvSpPr>
        <p:spPr>
          <a:xfrm>
            <a:off x="6421050" y="764900"/>
            <a:ext cx="1093284" cy="88992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Manuels</a:t>
            </a:r>
            <a:endParaRPr sz="1000"/>
          </a:p>
        </p:txBody>
      </p:sp>
      <p:sp>
        <p:nvSpPr>
          <p:cNvPr id="217" name="Google Shape;217;p29"/>
          <p:cNvSpPr/>
          <p:nvPr/>
        </p:nvSpPr>
        <p:spPr>
          <a:xfrm>
            <a:off x="1343700" y="713225"/>
            <a:ext cx="1288332" cy="78084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Auto  et Manuels</a:t>
            </a:r>
            <a:endParaRPr sz="1000"/>
          </a:p>
        </p:txBody>
      </p:sp>
      <p:sp>
        <p:nvSpPr>
          <p:cNvPr id="218" name="Google Shape;218;p29"/>
          <p:cNvSpPr/>
          <p:nvPr/>
        </p:nvSpPr>
        <p:spPr>
          <a:xfrm>
            <a:off x="3157900" y="3244825"/>
            <a:ext cx="1093284" cy="88992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Auto</a:t>
            </a:r>
            <a:endParaRPr sz="1000"/>
          </a:p>
        </p:txBody>
      </p:sp>
      <p:sp>
        <p:nvSpPr>
          <p:cNvPr id="219" name="Google Shape;219;p29"/>
          <p:cNvSpPr txBox="1"/>
          <p:nvPr/>
        </p:nvSpPr>
        <p:spPr>
          <a:xfrm>
            <a:off x="251150" y="130600"/>
            <a:ext cx="200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accent1"/>
                </a:solidFill>
              </a:rPr>
              <a:t>DEMAT RH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7789025" y="3769950"/>
            <a:ext cx="1161900" cy="78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Existant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accent3"/>
                </a:solidFill>
              </a:rPr>
              <a:t>A prévoir en priorité</a:t>
            </a:r>
            <a:endParaRPr b="1" sz="11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/>
              <a:t>A discuter</a:t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3958075" y="2490125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Q1</a:t>
            </a:r>
            <a:endParaRPr sz="1200"/>
          </a:p>
        </p:txBody>
      </p:sp>
      <p:sp>
        <p:nvSpPr>
          <p:cNvPr id="222" name="Google Shape;222;p29"/>
          <p:cNvSpPr txBox="1"/>
          <p:nvPr/>
        </p:nvSpPr>
        <p:spPr>
          <a:xfrm>
            <a:off x="3958075" y="2050025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Q2 </a:t>
            </a:r>
            <a:endParaRPr sz="1200"/>
          </a:p>
        </p:txBody>
      </p:sp>
      <p:sp>
        <p:nvSpPr>
          <p:cNvPr id="223" name="Google Shape;223;p29"/>
          <p:cNvSpPr txBox="1"/>
          <p:nvPr/>
        </p:nvSpPr>
        <p:spPr>
          <a:xfrm>
            <a:off x="4482200" y="2050025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Q3 </a:t>
            </a:r>
            <a:endParaRPr sz="1200"/>
          </a:p>
        </p:txBody>
      </p:sp>
      <p:sp>
        <p:nvSpPr>
          <p:cNvPr id="224" name="Google Shape;224;p29"/>
          <p:cNvSpPr txBox="1"/>
          <p:nvPr/>
        </p:nvSpPr>
        <p:spPr>
          <a:xfrm>
            <a:off x="4482200" y="2490125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Q4 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357000" y="886763"/>
            <a:ext cx="3858000" cy="138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Merci!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Prochain sujet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Des questions?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Primobox">
      <a:dk1>
        <a:srgbClr val="5E6167"/>
      </a:dk1>
      <a:lt1>
        <a:srgbClr val="FFFFFF"/>
      </a:lt1>
      <a:dk2>
        <a:srgbClr val="5E6167"/>
      </a:dk2>
      <a:lt2>
        <a:srgbClr val="F4EFF6"/>
      </a:lt2>
      <a:accent1>
        <a:srgbClr val="0075B0"/>
      </a:accent1>
      <a:accent2>
        <a:srgbClr val="7FB5DA"/>
      </a:accent2>
      <a:accent3>
        <a:srgbClr val="D95245"/>
      </a:accent3>
      <a:accent4>
        <a:srgbClr val="7FB5DA"/>
      </a:accent4>
      <a:accent5>
        <a:srgbClr val="5E6167"/>
      </a:accent5>
      <a:accent6>
        <a:srgbClr val="5E6A71"/>
      </a:accent6>
      <a:hlink>
        <a:srgbClr val="0075B0"/>
      </a:hlink>
      <a:folHlink>
        <a:srgbClr val="D952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